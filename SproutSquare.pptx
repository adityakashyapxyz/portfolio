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68" r:id="rId3"/>
    <p:sldId id="269" r:id="rId4"/>
    <p:sldId id="257" r:id="rId5"/>
    <p:sldId id="258" r:id="rId6"/>
    <p:sldId id="270" r:id="rId7"/>
    <p:sldId id="271" r:id="rId8"/>
    <p:sldId id="259" r:id="rId9"/>
  </p:sldIdLst>
  <p:sldSz cx="14630400" cy="8229600"/>
  <p:notesSz cx="8229600" cy="14630400"/>
  <p:embeddedFontLst>
    <p:embeddedFont>
      <p:font typeface="Bahnschrift Light Condensed" panose="020B0502040204020203" pitchFamily="34" charset="0"/>
      <p:regular r:id="rId11"/>
    </p:embeddedFont>
    <p:embeddedFont>
      <p:font typeface="Bahnschrift SemiBold Condensed" panose="020B0502040204020203" pitchFamily="34" charset="0"/>
      <p:bold r:id="rId12"/>
    </p:embeddedFont>
    <p:embeddedFont>
      <p:font typeface="Bahnschrift SemiBold SemiConden" panose="020B0502040204020203" pitchFamily="34" charset="0"/>
      <p:bold r:id="rId13"/>
    </p:embeddedFont>
    <p:embeddedFont>
      <p:font typeface="Fraunces Extra Bold" panose="020B0604020202020204" charset="0"/>
      <p:regular r:id="rId14"/>
    </p:embeddedFont>
    <p:embeddedFont>
      <p:font typeface="Gloucester MT Extra Condensed" panose="02030808020601010101" pitchFamily="18" charset="0"/>
      <p:regular r:id="rId15"/>
    </p:embeddedFont>
    <p:embeddedFont>
      <p:font typeface="Nobile" panose="020B0604020202020204" charset="0"/>
      <p:regular r:id="rId16"/>
    </p:embeddedFont>
    <p:embeddedFont>
      <p:font typeface="Segoe UI Semibold" panose="020B0702040204020203" pitchFamily="34" charset="0"/>
      <p:bold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512"/>
    <a:srgbClr val="085526"/>
    <a:srgbClr val="623434"/>
    <a:srgbClr val="0E5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77" autoAdjust="0"/>
    <p:restoredTop sz="95388" autoAdjust="0"/>
  </p:normalViewPr>
  <p:slideViewPr>
    <p:cSldViewPr snapToGrid="0" snapToObjects="1">
      <p:cViewPr>
        <p:scale>
          <a:sx n="25" d="100"/>
          <a:sy n="25" d="100"/>
        </p:scale>
        <p:origin x="2160" y="10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99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23B4-F91E-D1B2-E0B8-66262DED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1CC0B-7A50-600F-9BF4-5D8C0CEA4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C5C2C-4D26-0DE6-AFD5-05A93BB7E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12B66-5D54-71E8-220D-FE4E0ED17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83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0538-7DEE-C300-2D8F-B7DE0AAF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42719-28A3-0132-343A-284EEC79B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E7884-4F39-7686-4393-6A04B6306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E961B-35CC-C891-BE89-5CDE5F254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21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70FF-BBB1-029B-0575-91D07D3D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71354-8DA5-D9A7-4A03-8538976C0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0E5DB-558A-6A11-8584-71680AA50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1C54-3D68-D49D-4E75-13AB6E935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5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3782A-DED1-FD70-3EA1-B3983D35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E23A8-5BE8-4D9D-A901-0BBF7C78447F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F6079-183D-D35D-4D1B-728429EB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EFF8A-1762-CBFC-5304-9F529214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2B53-31AD-46FE-BEF0-AE5ADF369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6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1.wdp"/><Relationship Id="rId3" Type="http://schemas.openxmlformats.org/officeDocument/2006/relationships/image" Target="../media/image1.jpg"/><Relationship Id="rId7" Type="http://schemas.microsoft.com/office/2007/relationships/hdphoto" Target="../media/hdphoto5.wdp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microsoft.com/office/2007/relationships/hdphoto" Target="../media/hdphoto6.wdp"/><Relationship Id="rId5" Type="http://schemas.microsoft.com/office/2007/relationships/hdphoto" Target="../media/hdphoto4.wdp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2.wdp"/><Relationship Id="rId3" Type="http://schemas.openxmlformats.org/officeDocument/2006/relationships/image" Target="../media/image1.jpg"/><Relationship Id="rId7" Type="http://schemas.microsoft.com/office/2007/relationships/hdphoto" Target="../media/hdphoto4.wdp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microsoft.com/office/2007/relationships/hdphoto" Target="../media/hdphoto6.wdp"/><Relationship Id="rId5" Type="http://schemas.microsoft.com/office/2007/relationships/hdphoto" Target="../media/hdphoto1.wdp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4C940-7DAD-1F11-7EF8-21856E10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48BDCB4-1C88-4083-D280-FC68C0469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5454381" y="5887342"/>
            <a:ext cx="5092125" cy="5092125"/>
          </a:xfrm>
          <a:prstGeom prst="rect">
            <a:avLst/>
          </a:prstGeom>
        </p:spPr>
      </p:pic>
      <p:pic>
        <p:nvPicPr>
          <p:cNvPr id="1026" name="Picture 2" descr="Texture of light green crumpled craft paper. Texture for design, abstract  background Stock Photo | Adobe Stock">
            <a:extLst>
              <a:ext uri="{FF2B5EF4-FFF2-40B4-BE49-F238E27FC236}">
                <a16:creationId xmlns:a16="http://schemas.microsoft.com/office/drawing/2014/main" id="{84CAFBFF-4BDF-4861-1BF7-D8704EBA7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4" t="64273" r="60257"/>
          <a:stretch>
            <a:fillRect/>
          </a:stretch>
        </p:blipFill>
        <p:spPr bwMode="auto">
          <a:xfrm>
            <a:off x="151986" y="5280835"/>
            <a:ext cx="640080" cy="294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DCD450-42FA-2D55-CFDC-88D5B78541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51089">
            <a:off x="2143092" y="5499047"/>
            <a:ext cx="10229450" cy="15303201"/>
          </a:xfrm>
          <a:prstGeom prst="rect">
            <a:avLst/>
          </a:prstGeom>
          <a:effectLst>
            <a:outerShdw blurRad="88900" dist="101600" dir="3000000" sx="101000" sy="101000" algn="tl" rotWithShape="0">
              <a:prstClr val="black">
                <a:alpha val="42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C9276F-0B0F-D24F-F167-40ECB43D3471}"/>
              </a:ext>
            </a:extLst>
          </p:cNvPr>
          <p:cNvSpPr txBox="1"/>
          <p:nvPr/>
        </p:nvSpPr>
        <p:spPr>
          <a:xfrm>
            <a:off x="4458084" y="9351813"/>
            <a:ext cx="700689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80" b="1" dirty="0">
                <a:solidFill>
                  <a:srgbClr val="0D351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Plant the paper. Grow the memory</a:t>
            </a:r>
            <a:endParaRPr lang="en-IN" sz="2880" b="1" dirty="0">
              <a:solidFill>
                <a:srgbClr val="0D351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61B9DB-EC84-C5AF-EBB1-38C7D6DD8D60}"/>
              </a:ext>
            </a:extLst>
          </p:cNvPr>
          <p:cNvSpPr txBox="1"/>
          <p:nvPr/>
        </p:nvSpPr>
        <p:spPr>
          <a:xfrm>
            <a:off x="1609291" y="8476589"/>
            <a:ext cx="1263204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b="1" dirty="0">
                <a:solidFill>
                  <a:srgbClr val="0D351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Seed-paper based eco-friendly stationery &amp; gifting startup</a:t>
            </a:r>
            <a:endParaRPr lang="en-IN" sz="3360" b="1" dirty="0">
              <a:solidFill>
                <a:srgbClr val="0D351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B2F5E54-45DD-3F4E-D34A-7EC273BA8C1C}"/>
              </a:ext>
            </a:extLst>
          </p:cNvPr>
          <p:cNvSpPr/>
          <p:nvPr/>
        </p:nvSpPr>
        <p:spPr>
          <a:xfrm>
            <a:off x="1448528" y="8571403"/>
            <a:ext cx="204272" cy="204272"/>
          </a:xfrm>
          <a:prstGeom prst="ellipse">
            <a:avLst/>
          </a:prstGeom>
          <a:solidFill>
            <a:srgbClr val="0855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61817F-492D-0EA8-1DBD-15F81D390C8E}"/>
              </a:ext>
            </a:extLst>
          </p:cNvPr>
          <p:cNvSpPr/>
          <p:nvPr/>
        </p:nvSpPr>
        <p:spPr>
          <a:xfrm>
            <a:off x="4276190" y="9390243"/>
            <a:ext cx="204272" cy="204272"/>
          </a:xfrm>
          <a:prstGeom prst="ellipse">
            <a:avLst/>
          </a:prstGeom>
          <a:solidFill>
            <a:srgbClr val="0855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AAC27F3-57F9-1B5C-E76A-2B5FC03D0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762604">
            <a:off x="-5748627" y="-3552982"/>
            <a:ext cx="5092125" cy="50921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57C9CB6-8A66-7C07-FDBE-54845EF6C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2167967">
            <a:off x="9953560" y="-5024349"/>
            <a:ext cx="5092125" cy="5092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10F6D-8114-D271-4DE3-0ED40FA439C7}"/>
              </a:ext>
            </a:extLst>
          </p:cNvPr>
          <p:cNvSpPr txBox="1"/>
          <p:nvPr/>
        </p:nvSpPr>
        <p:spPr>
          <a:xfrm>
            <a:off x="1903535" y="-1223693"/>
            <a:ext cx="10927080" cy="12631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16600" b="1" dirty="0">
                <a:solidFill>
                  <a:srgbClr val="0D3512"/>
                </a:solidFill>
                <a:effectLst>
                  <a:outerShdw blurRad="63500" dist="50800" dir="2400000" sx="101000" sy="101000" algn="tl">
                    <a:srgbClr val="000000">
                      <a:alpha val="37000"/>
                    </a:srgbClr>
                  </a:outerShdw>
                </a:effectLst>
                <a:latin typeface="Bahnschrift Light Condensed" panose="020B0502040204020203" pitchFamily="34" charset="0"/>
                <a:ea typeface="Fraunces Extra Bold" pitchFamily="34" charset="-122"/>
                <a:cs typeface="Fraunces Extra Bold" pitchFamily="34" charset="-120"/>
              </a:rPr>
              <a:t>Sprout</a:t>
            </a:r>
            <a:r>
              <a:rPr lang="en-US" sz="11500" b="1" dirty="0">
                <a:solidFill>
                  <a:srgbClr val="0D3512"/>
                </a:solidFill>
                <a:effectLst>
                  <a:outerShdw blurRad="63500" dist="50800" dir="2400000" sx="101000" sy="101000" algn="tl">
                    <a:srgbClr val="000000">
                      <a:alpha val="37000"/>
                    </a:srgbClr>
                  </a:outerShdw>
                </a:effectLst>
                <a:latin typeface="Bahnschrift Light Condensed" panose="020B0502040204020203" pitchFamily="34" charset="0"/>
                <a:ea typeface="Fraunces Extra Bold" pitchFamily="34" charset="-122"/>
                <a:cs typeface="Fraunces Extra Bold" pitchFamily="34" charset="-120"/>
              </a:rPr>
              <a:t> Square</a:t>
            </a:r>
            <a:endParaRPr lang="en-US" sz="11500" dirty="0">
              <a:solidFill>
                <a:srgbClr val="0D3512"/>
              </a:solidFill>
              <a:effectLst>
                <a:outerShdw blurRad="63500" dist="50800" dir="2400000" sx="101000" sy="101000" algn="tl">
                  <a:srgbClr val="000000">
                    <a:alpha val="37000"/>
                  </a:srgbClr>
                </a:outerShdw>
              </a:effectLst>
              <a:latin typeface="Bahnschrift Light Condensed" panose="020B0502040204020203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B49E275-C020-1B6D-3FA1-394443870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545736">
            <a:off x="-5256740" y="6868783"/>
            <a:ext cx="5092125" cy="50921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8433306-90E1-4CCB-0580-46BCD51116B0}"/>
              </a:ext>
            </a:extLst>
          </p:cNvPr>
          <p:cNvSpPr txBox="1"/>
          <p:nvPr/>
        </p:nvSpPr>
        <p:spPr>
          <a:xfrm>
            <a:off x="2138562" y="11581903"/>
            <a:ext cx="11613153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   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INDIA                  </a:t>
            </a:r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            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PRE-REVENUE</a:t>
            </a:r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                   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PROTOTYPE</a:t>
            </a:r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STAGE</a:t>
            </a:r>
            <a:endParaRPr lang="en-IN" sz="3200" b="1" dirty="0">
              <a:solidFill>
                <a:srgbClr val="0D3512"/>
              </a:solidFill>
              <a:latin typeface="Aptos Display" panose="020B0004020202020204" pitchFamily="34" charset="0"/>
            </a:endParaRPr>
          </a:p>
          <a:p>
            <a:endParaRPr lang="en-IN" sz="3200" dirty="0">
              <a:solidFill>
                <a:srgbClr val="0D3512"/>
              </a:solidFill>
            </a:endParaRPr>
          </a:p>
        </p:txBody>
      </p:sp>
      <p:pic>
        <p:nvPicPr>
          <p:cNvPr id="35" name="Graphic 34" descr="Marker with solid fill">
            <a:extLst>
              <a:ext uri="{FF2B5EF4-FFF2-40B4-BE49-F238E27FC236}">
                <a16:creationId xmlns:a16="http://schemas.microsoft.com/office/drawing/2014/main" id="{50FCF267-3233-0D7A-DA3B-6FC4A61643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75548" y="11559488"/>
            <a:ext cx="579232" cy="579232"/>
          </a:xfrm>
          <a:prstGeom prst="rect">
            <a:avLst/>
          </a:prstGeom>
          <a:effectLst>
            <a:outerShdw blurRad="50800" dist="50800" dir="5400000" algn="ctr" rotWithShape="0">
              <a:schemeClr val="accent6">
                <a:lumMod val="60000"/>
                <a:lumOff val="40000"/>
              </a:schemeClr>
            </a:outerShdw>
          </a:effectLst>
        </p:spPr>
      </p:pic>
      <p:pic>
        <p:nvPicPr>
          <p:cNvPr id="36" name="Graphic 35" descr="Bullseye with solid fill">
            <a:extLst>
              <a:ext uri="{FF2B5EF4-FFF2-40B4-BE49-F238E27FC236}">
                <a16:creationId xmlns:a16="http://schemas.microsoft.com/office/drawing/2014/main" id="{95D47896-C391-32FA-D0C4-DB1BD2660D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8648" y="11613090"/>
            <a:ext cx="472027" cy="472027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AF1AD45A-4B9D-5BE3-3188-24084038D234}"/>
              </a:ext>
            </a:extLst>
          </p:cNvPr>
          <p:cNvSpPr/>
          <p:nvPr/>
        </p:nvSpPr>
        <p:spPr>
          <a:xfrm>
            <a:off x="9756248" y="11746967"/>
            <a:ext cx="204272" cy="204272"/>
          </a:xfrm>
          <a:prstGeom prst="ellipse">
            <a:avLst/>
          </a:prstGeom>
          <a:solidFill>
            <a:srgbClr val="0855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</p:spTree>
    <p:extLst>
      <p:ext uri="{BB962C8B-B14F-4D97-AF65-F5344CB8AC3E}">
        <p14:creationId xmlns:p14="http://schemas.microsoft.com/office/powerpoint/2010/main" val="3610071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61047-EA35-B12C-1F2A-2521AC2DA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FE965BF-B125-0CBA-941C-E3FDA9AF4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40361">
            <a:off x="10362256" y="3763596"/>
            <a:ext cx="5092125" cy="5092125"/>
          </a:xfrm>
          <a:prstGeom prst="rect">
            <a:avLst/>
          </a:prstGeom>
        </p:spPr>
      </p:pic>
      <p:pic>
        <p:nvPicPr>
          <p:cNvPr id="1026" name="Picture 2" descr="Texture of light green crumpled craft paper. Texture for design, abstract  background Stock Photo | Adobe Stock">
            <a:extLst>
              <a:ext uri="{FF2B5EF4-FFF2-40B4-BE49-F238E27FC236}">
                <a16:creationId xmlns:a16="http://schemas.microsoft.com/office/drawing/2014/main" id="{EAFDD54E-FADE-1994-615D-7ADC7E7F90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4" t="64273" r="60257"/>
          <a:stretch>
            <a:fillRect/>
          </a:stretch>
        </p:blipFill>
        <p:spPr bwMode="auto">
          <a:xfrm>
            <a:off x="151986" y="5280835"/>
            <a:ext cx="640080" cy="294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8BF923-6E68-F7D1-8680-1D3D8D84D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092" y="2497941"/>
            <a:ext cx="10229450" cy="15303201"/>
          </a:xfrm>
          <a:prstGeom prst="rect">
            <a:avLst/>
          </a:prstGeom>
          <a:effectLst>
            <a:outerShdw blurRad="88900" dist="101600" dir="3000000" sx="101000" sy="101000" algn="tl" rotWithShape="0">
              <a:prstClr val="black">
                <a:alpha val="42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762999-3D95-2B01-3B99-B6FAB263A1AD}"/>
              </a:ext>
            </a:extLst>
          </p:cNvPr>
          <p:cNvSpPr txBox="1"/>
          <p:nvPr/>
        </p:nvSpPr>
        <p:spPr>
          <a:xfrm>
            <a:off x="3863629" y="4164899"/>
            <a:ext cx="700689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80" b="1" dirty="0">
                <a:solidFill>
                  <a:srgbClr val="0D351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Plant the paper. Grow the memory</a:t>
            </a:r>
            <a:endParaRPr lang="en-IN" sz="2880" b="1" dirty="0">
              <a:solidFill>
                <a:srgbClr val="0D351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01A00-7C39-E297-1E88-880A124F6237}"/>
              </a:ext>
            </a:extLst>
          </p:cNvPr>
          <p:cNvSpPr txBox="1"/>
          <p:nvPr/>
        </p:nvSpPr>
        <p:spPr>
          <a:xfrm>
            <a:off x="1051052" y="3289675"/>
            <a:ext cx="1263204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360" b="1" dirty="0">
                <a:solidFill>
                  <a:srgbClr val="0D351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Seed-paper based eco-friendly stationery &amp; gifting startup</a:t>
            </a:r>
            <a:endParaRPr lang="en-IN" sz="3360" b="1" dirty="0">
              <a:solidFill>
                <a:srgbClr val="0D351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85E4522-6416-898F-8133-E85D38D525B7}"/>
              </a:ext>
            </a:extLst>
          </p:cNvPr>
          <p:cNvSpPr/>
          <p:nvPr/>
        </p:nvSpPr>
        <p:spPr>
          <a:xfrm>
            <a:off x="1426150" y="3511688"/>
            <a:ext cx="204272" cy="204272"/>
          </a:xfrm>
          <a:prstGeom prst="ellipse">
            <a:avLst/>
          </a:prstGeom>
          <a:solidFill>
            <a:srgbClr val="0855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2F7C16-8A01-4BE3-6DE5-22299D052D80}"/>
              </a:ext>
            </a:extLst>
          </p:cNvPr>
          <p:cNvSpPr/>
          <p:nvPr/>
        </p:nvSpPr>
        <p:spPr>
          <a:xfrm>
            <a:off x="4253812" y="4330528"/>
            <a:ext cx="204272" cy="204272"/>
          </a:xfrm>
          <a:prstGeom prst="ellipse">
            <a:avLst/>
          </a:prstGeom>
          <a:solidFill>
            <a:srgbClr val="0855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A9D8B5-6A91-C9C2-98F8-C22021CEA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207097">
            <a:off x="-1627968" y="-2237897"/>
            <a:ext cx="5092125" cy="50921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7CCABCD-1DF1-6183-FF89-E5D70458D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5884368">
            <a:off x="8337213" y="-2128913"/>
            <a:ext cx="5092125" cy="5092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2CC616-C0E5-7F36-BC4C-884E26F7C0AC}"/>
              </a:ext>
            </a:extLst>
          </p:cNvPr>
          <p:cNvSpPr txBox="1"/>
          <p:nvPr/>
        </p:nvSpPr>
        <p:spPr>
          <a:xfrm>
            <a:off x="1903535" y="1919942"/>
            <a:ext cx="10927080" cy="12631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6660"/>
              </a:lnSpc>
            </a:pPr>
            <a:r>
              <a:rPr lang="en-US" sz="16600" b="1" dirty="0">
                <a:solidFill>
                  <a:srgbClr val="0D3512"/>
                </a:solidFill>
                <a:effectLst>
                  <a:outerShdw blurRad="63500" dist="50800" dir="2400000" sx="101000" sy="101000" algn="tl">
                    <a:srgbClr val="000000">
                      <a:alpha val="37000"/>
                    </a:srgbClr>
                  </a:outerShdw>
                </a:effectLst>
                <a:latin typeface="Bahnschrift Light Condensed" panose="020B0502040204020203" pitchFamily="34" charset="0"/>
                <a:ea typeface="Fraunces Extra Bold" pitchFamily="34" charset="-122"/>
                <a:cs typeface="Fraunces Extra Bold" pitchFamily="34" charset="-120"/>
              </a:rPr>
              <a:t>Sprout</a:t>
            </a:r>
            <a:r>
              <a:rPr lang="en-US" sz="11500" b="1" dirty="0">
                <a:solidFill>
                  <a:srgbClr val="0D3512"/>
                </a:solidFill>
                <a:effectLst>
                  <a:outerShdw blurRad="63500" dist="50800" dir="2400000" sx="101000" sy="101000" algn="tl">
                    <a:srgbClr val="000000">
                      <a:alpha val="37000"/>
                    </a:srgbClr>
                  </a:outerShdw>
                </a:effectLst>
                <a:latin typeface="Bahnschrift Light Condensed" panose="020B0502040204020203" pitchFamily="34" charset="0"/>
                <a:ea typeface="Fraunces Extra Bold" pitchFamily="34" charset="-122"/>
                <a:cs typeface="Fraunces Extra Bold" pitchFamily="34" charset="-120"/>
              </a:rPr>
              <a:t> Square</a:t>
            </a:r>
            <a:endParaRPr lang="en-US" sz="11500" dirty="0">
              <a:solidFill>
                <a:srgbClr val="0D3512"/>
              </a:solidFill>
              <a:effectLst>
                <a:outerShdw blurRad="63500" dist="50800" dir="2400000" sx="101000" sy="101000" algn="tl">
                  <a:srgbClr val="000000">
                    <a:alpha val="37000"/>
                  </a:srgbClr>
                </a:outerShdw>
              </a:effectLst>
              <a:latin typeface="Bahnschrift Light Condensed" panose="020B0502040204020203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8F1F37E-D8AC-0CD0-01A5-31F402170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235439">
            <a:off x="-2821765" y="4666850"/>
            <a:ext cx="5092125" cy="50921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7421040-8ADA-14C9-A297-1B133F67C543}"/>
              </a:ext>
            </a:extLst>
          </p:cNvPr>
          <p:cNvSpPr txBox="1"/>
          <p:nvPr/>
        </p:nvSpPr>
        <p:spPr>
          <a:xfrm>
            <a:off x="1630422" y="6656101"/>
            <a:ext cx="11613153" cy="107721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   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INDIA                  </a:t>
            </a:r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            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PRE-REVENUE</a:t>
            </a:r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                   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PROTOTYPE</a:t>
            </a:r>
            <a:r>
              <a:rPr lang="en-US" sz="3200" b="1" dirty="0">
                <a:solidFill>
                  <a:srgbClr val="0D3512"/>
                </a:solidFill>
                <a:latin typeface="Gloucester MT Extra Condensed" panose="02030808020601010101" pitchFamily="18" charset="0"/>
              </a:rPr>
              <a:t> </a:t>
            </a:r>
            <a:r>
              <a:rPr lang="en-US" sz="3200" b="1" dirty="0">
                <a:solidFill>
                  <a:srgbClr val="0D3512"/>
                </a:solidFill>
                <a:latin typeface="Aptos Display" panose="020B0004020202020204" pitchFamily="34" charset="0"/>
              </a:rPr>
              <a:t>STAGE</a:t>
            </a:r>
            <a:endParaRPr lang="en-IN" sz="3200" b="1" dirty="0">
              <a:solidFill>
                <a:srgbClr val="0D3512"/>
              </a:solidFill>
              <a:latin typeface="Aptos Display" panose="020B0004020202020204" pitchFamily="34" charset="0"/>
            </a:endParaRPr>
          </a:p>
          <a:p>
            <a:endParaRPr lang="en-IN" sz="3200" dirty="0">
              <a:solidFill>
                <a:srgbClr val="0D3512"/>
              </a:solidFill>
            </a:endParaRPr>
          </a:p>
        </p:txBody>
      </p:sp>
      <p:pic>
        <p:nvPicPr>
          <p:cNvPr id="35" name="Graphic 34" descr="Marker with solid fill">
            <a:extLst>
              <a:ext uri="{FF2B5EF4-FFF2-40B4-BE49-F238E27FC236}">
                <a16:creationId xmlns:a16="http://schemas.microsoft.com/office/drawing/2014/main" id="{7394BD13-9DEB-7410-EADE-4A1A65A295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0345" y="6606798"/>
            <a:ext cx="579232" cy="579232"/>
          </a:xfrm>
          <a:prstGeom prst="rect">
            <a:avLst/>
          </a:prstGeom>
          <a:effectLst>
            <a:outerShdw blurRad="50800" dist="50800" dir="5400000" algn="ctr" rotWithShape="0">
              <a:schemeClr val="accent6">
                <a:lumMod val="60000"/>
                <a:lumOff val="40000"/>
              </a:schemeClr>
            </a:outerShdw>
          </a:effectLst>
        </p:spPr>
      </p:pic>
      <p:pic>
        <p:nvPicPr>
          <p:cNvPr id="36" name="Graphic 35" descr="Bullseye with solid fill">
            <a:extLst>
              <a:ext uri="{FF2B5EF4-FFF2-40B4-BE49-F238E27FC236}">
                <a16:creationId xmlns:a16="http://schemas.microsoft.com/office/drawing/2014/main" id="{0E72184A-39AB-4862-5E7A-C395C94A3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8366" y="6684131"/>
            <a:ext cx="472027" cy="472027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3ADB4BE1-D104-4C9F-459F-371E268BAAEE}"/>
              </a:ext>
            </a:extLst>
          </p:cNvPr>
          <p:cNvSpPr/>
          <p:nvPr/>
        </p:nvSpPr>
        <p:spPr>
          <a:xfrm>
            <a:off x="9413383" y="6862370"/>
            <a:ext cx="204272" cy="204272"/>
          </a:xfrm>
          <a:prstGeom prst="ellipse">
            <a:avLst/>
          </a:prstGeom>
          <a:solidFill>
            <a:srgbClr val="0855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</p:spTree>
    <p:extLst>
      <p:ext uri="{BB962C8B-B14F-4D97-AF65-F5344CB8AC3E}">
        <p14:creationId xmlns:p14="http://schemas.microsoft.com/office/powerpoint/2010/main" val="298367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B2221-6E82-F331-6353-A28C47BA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9DC2573-8595-F334-54C2-3A65E6CC6E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04" t="16797" r="2336" b="14029"/>
          <a:stretch>
            <a:fillRect/>
          </a:stretch>
        </p:blipFill>
        <p:spPr>
          <a:xfrm>
            <a:off x="0" y="0"/>
            <a:ext cx="14696956" cy="82555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3154D3-9957-5A9E-B630-C97F0D241A8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108" b="43025"/>
          <a:stretch>
            <a:fillRect/>
          </a:stretch>
        </p:blipFill>
        <p:spPr>
          <a:xfrm rot="787332">
            <a:off x="-56139" y="8625581"/>
            <a:ext cx="14809233" cy="7122371"/>
          </a:xfrm>
          <a:prstGeom prst="rect">
            <a:avLst/>
          </a:prstGeom>
          <a:blipFill dpi="0" rotWithShape="1">
            <a:blip r:embed="rId3">
              <a:alphaModFix amt="0"/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360"/>
            </a:stretch>
          </a:blipFill>
          <a:ln>
            <a:noFill/>
          </a:ln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02B3B65-0123-089A-D46B-F35E65536D4D}"/>
              </a:ext>
            </a:extLst>
          </p:cNvPr>
          <p:cNvSpPr/>
          <p:nvPr/>
        </p:nvSpPr>
        <p:spPr>
          <a:xfrm>
            <a:off x="730644" y="-1544099"/>
            <a:ext cx="12913460" cy="113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6000" b="1" dirty="0">
                <a:solidFill>
                  <a:srgbClr val="0D3512"/>
                </a:solidFill>
                <a:effectLst>
                  <a:outerShdw blurRad="88900" dist="88900" dir="2700000" algn="tl" rotWithShape="0">
                    <a:schemeClr val="tx1">
                      <a:alpha val="37000"/>
                    </a:schemeClr>
                  </a:outerShdw>
                </a:effectLst>
                <a:latin typeface="Bahnschrift Light Condensed" panose="020B0502040204020203" pitchFamily="34" charset="0"/>
                <a:ea typeface="Fraunces Extra Bold" pitchFamily="34" charset="-122"/>
                <a:cs typeface="Fraunces Extra Bold" pitchFamily="34" charset="-120"/>
              </a:rPr>
              <a:t>The Problem : Traditional Paper = Massive Waste</a:t>
            </a:r>
            <a:endParaRPr lang="en-US" sz="6000" b="1" dirty="0">
              <a:solidFill>
                <a:srgbClr val="0D3512"/>
              </a:solidFill>
              <a:effectLst>
                <a:outerShdw blurRad="88900" dist="88900" dir="2700000" algn="tl" rotWithShape="0">
                  <a:schemeClr val="tx1">
                    <a:alpha val="37000"/>
                  </a:schemeClr>
                </a:outerShdw>
              </a:effectLst>
              <a:latin typeface="Bahnschrift Light Condensed" panose="020B0502040204020203" pitchFamily="34" charset="0"/>
            </a:endParaRPr>
          </a:p>
        </p:txBody>
      </p:sp>
      <p:sp>
        <p:nvSpPr>
          <p:cNvPr id="35" name="Plaque 34">
            <a:extLst>
              <a:ext uri="{FF2B5EF4-FFF2-40B4-BE49-F238E27FC236}">
                <a16:creationId xmlns:a16="http://schemas.microsoft.com/office/drawing/2014/main" id="{4DF3C371-5F72-A20D-19F0-FEEBE38B79AE}"/>
              </a:ext>
            </a:extLst>
          </p:cNvPr>
          <p:cNvSpPr/>
          <p:nvPr/>
        </p:nvSpPr>
        <p:spPr>
          <a:xfrm rot="20151957">
            <a:off x="1528664" y="8877715"/>
            <a:ext cx="3727938" cy="4929726"/>
          </a:xfrm>
          <a:prstGeom prst="plaque">
            <a:avLst/>
          </a:prstGeom>
          <a:solidFill>
            <a:srgbClr val="085526"/>
          </a:solidFill>
          <a:ln>
            <a:noFill/>
          </a:ln>
          <a:effectLst>
            <a:innerShdw blurRad="901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623434"/>
                </a:solidFill>
              </a:ln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8CBF736-F192-C1E5-AF46-ED1D2E07AB75}"/>
              </a:ext>
            </a:extLst>
          </p:cNvPr>
          <p:cNvSpPr/>
          <p:nvPr/>
        </p:nvSpPr>
        <p:spPr>
          <a:xfrm rot="20151957">
            <a:off x="2152099" y="10985763"/>
            <a:ext cx="2481067" cy="184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 consumers crave sustainable options, but current eco-friendly alternatives are often limited, aesthetically unappealing, or prohibitively expensive.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7" name="Plaque 36">
            <a:extLst>
              <a:ext uri="{FF2B5EF4-FFF2-40B4-BE49-F238E27FC236}">
                <a16:creationId xmlns:a16="http://schemas.microsoft.com/office/drawing/2014/main" id="{F92DBD0A-7CEE-DA45-EB31-5C8B02C6E582}"/>
              </a:ext>
            </a:extLst>
          </p:cNvPr>
          <p:cNvSpPr/>
          <p:nvPr/>
        </p:nvSpPr>
        <p:spPr>
          <a:xfrm rot="2161954">
            <a:off x="5689479" y="8912388"/>
            <a:ext cx="3727938" cy="4895053"/>
          </a:xfrm>
          <a:prstGeom prst="plaque">
            <a:avLst/>
          </a:prstGeom>
          <a:solidFill>
            <a:srgbClr val="085526"/>
          </a:solidFill>
          <a:ln>
            <a:noFill/>
          </a:ln>
          <a:effectLst>
            <a:innerShdw blurRad="901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623434"/>
                </a:solidFill>
              </a:ln>
            </a:endParaRPr>
          </a:p>
        </p:txBody>
      </p:sp>
      <p:sp>
        <p:nvSpPr>
          <p:cNvPr id="38" name="Plaque 37">
            <a:extLst>
              <a:ext uri="{FF2B5EF4-FFF2-40B4-BE49-F238E27FC236}">
                <a16:creationId xmlns:a16="http://schemas.microsoft.com/office/drawing/2014/main" id="{68F95871-3036-47DB-EEA1-8794EE728E57}"/>
              </a:ext>
            </a:extLst>
          </p:cNvPr>
          <p:cNvSpPr/>
          <p:nvPr/>
        </p:nvSpPr>
        <p:spPr>
          <a:xfrm rot="1948590">
            <a:off x="9850294" y="8877714"/>
            <a:ext cx="3727938" cy="4929728"/>
          </a:xfrm>
          <a:prstGeom prst="plaque">
            <a:avLst/>
          </a:prstGeom>
          <a:solidFill>
            <a:srgbClr val="085526"/>
          </a:solidFill>
          <a:ln>
            <a:noFill/>
          </a:ln>
          <a:effectLst>
            <a:innerShdw blurRad="901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623434"/>
                </a:solidFill>
              </a:ln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606C14A-3E58-36FB-2365-68ED29ACBE4B}"/>
              </a:ext>
            </a:extLst>
          </p:cNvPr>
          <p:cNvSpPr/>
          <p:nvPr/>
        </p:nvSpPr>
        <p:spPr>
          <a:xfrm rot="1948590">
            <a:off x="10509635" y="9710132"/>
            <a:ext cx="2409256" cy="493635"/>
          </a:xfrm>
          <a:prstGeom prst="rect">
            <a:avLst/>
          </a:prstGeom>
          <a:noFill/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Untapped 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Demand</a:t>
            </a:r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7FD5F7F-CFC8-4C15-B23A-D0E41FF65870}"/>
              </a:ext>
            </a:extLst>
          </p:cNvPr>
          <p:cNvSpPr/>
          <p:nvPr/>
        </p:nvSpPr>
        <p:spPr>
          <a:xfrm rot="20151957">
            <a:off x="1876927" y="9782407"/>
            <a:ext cx="3031412" cy="349083"/>
          </a:xfrm>
          <a:prstGeom prst="rect">
            <a:avLst/>
          </a:prstGeom>
          <a:noFill/>
          <a:ln/>
          <a:effectLst>
            <a:outerShdw blurRad="127000" dist="38100" dir="2700000" algn="tl" rotWithShape="0">
              <a:prstClr val="black">
                <a:alpha val="44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Single-Use</a:t>
            </a:r>
            <a:r>
              <a:rPr lang="en-US" sz="1750" b="1" dirty="0">
                <a:solidFill>
                  <a:srgbClr val="623434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Culture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DBFB756-2CFF-098C-8E42-DE3C0E71E097}"/>
              </a:ext>
            </a:extLst>
          </p:cNvPr>
          <p:cNvSpPr/>
          <p:nvPr/>
        </p:nvSpPr>
        <p:spPr>
          <a:xfrm rot="2161954">
            <a:off x="7332640" y="9716281"/>
            <a:ext cx="441616" cy="276806"/>
          </a:xfrm>
          <a:prstGeom prst="rect">
            <a:avLst/>
          </a:prstGeom>
          <a:noFill/>
          <a:ln/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Environmental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623434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EEF5148-D9F1-4B05-2675-9F72913CBCB9}"/>
              </a:ext>
            </a:extLst>
          </p:cNvPr>
          <p:cNvSpPr/>
          <p:nvPr/>
        </p:nvSpPr>
        <p:spPr>
          <a:xfrm rot="2161954">
            <a:off x="6410382" y="10977800"/>
            <a:ext cx="2374347" cy="1158240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90% of greeting cards &amp; invitations are used once and end up in landfills within days, contributing to an alarming waste cycle.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74EB146-17B7-38BA-F58A-2E4060E3E5B8}"/>
              </a:ext>
            </a:extLst>
          </p:cNvPr>
          <p:cNvSpPr/>
          <p:nvPr/>
        </p:nvSpPr>
        <p:spPr>
          <a:xfrm rot="1948590">
            <a:off x="10686752" y="10977800"/>
            <a:ext cx="2232139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paper industry is a major culprit in deforestation, excessive water consumption, and significant carbon emissions.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0657C7A-E6BB-A1A4-65E0-06E474B55BF4}"/>
              </a:ext>
            </a:extLst>
          </p:cNvPr>
          <p:cNvSpPr/>
          <p:nvPr/>
        </p:nvSpPr>
        <p:spPr>
          <a:xfrm rot="14751957" flipH="1">
            <a:off x="3311722" y="9422234"/>
            <a:ext cx="161821" cy="248106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1B59C249-9BB3-4576-04F1-3E4F063EB3C1}"/>
              </a:ext>
            </a:extLst>
          </p:cNvPr>
          <p:cNvSpPr/>
          <p:nvPr/>
        </p:nvSpPr>
        <p:spPr>
          <a:xfrm rot="18361954" flipH="1">
            <a:off x="7510525" y="9422465"/>
            <a:ext cx="161821" cy="248106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E1E3F630-D529-FD5C-2F66-AA7493618882}"/>
              </a:ext>
            </a:extLst>
          </p:cNvPr>
          <p:cNvSpPr/>
          <p:nvPr/>
        </p:nvSpPr>
        <p:spPr>
          <a:xfrm rot="18148590" flipH="1">
            <a:off x="11709328" y="9422696"/>
            <a:ext cx="161821" cy="248106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</p:spTree>
    <p:extLst>
      <p:ext uri="{BB962C8B-B14F-4D97-AF65-F5344CB8AC3E}">
        <p14:creationId xmlns:p14="http://schemas.microsoft.com/office/powerpoint/2010/main" val="324430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74958C3-B327-B90A-5BF3-A32F718B44F0}"/>
              </a:ext>
            </a:extLst>
          </p:cNvPr>
          <p:cNvSpPr/>
          <p:nvPr/>
        </p:nvSpPr>
        <p:spPr>
          <a:xfrm>
            <a:off x="6618272" y="7608920"/>
            <a:ext cx="2157046" cy="56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98EC6D5-EB19-3DF8-CA86-2CE704E5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04" t="16797" r="2336" b="14029"/>
          <a:stretch>
            <a:fillRect/>
          </a:stretch>
        </p:blipFill>
        <p:spPr>
          <a:xfrm>
            <a:off x="0" y="0"/>
            <a:ext cx="14696956" cy="82555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8F6C96-8BBB-0C92-48CE-0D2BD3DBACB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108" b="43025"/>
          <a:stretch>
            <a:fillRect/>
          </a:stretch>
        </p:blipFill>
        <p:spPr>
          <a:xfrm>
            <a:off x="-112276" y="1161227"/>
            <a:ext cx="14809233" cy="7122371"/>
          </a:xfrm>
          <a:prstGeom prst="rect">
            <a:avLst/>
          </a:prstGeom>
          <a:blipFill dpi="0" rotWithShape="1">
            <a:blip r:embed="rId3">
              <a:alphaModFix amt="0"/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360"/>
            </a:stretch>
          </a:blipFill>
          <a:ln>
            <a:noFill/>
          </a:ln>
          <a:effectLst>
            <a:outerShdw blurRad="50800" dist="50800" dir="5400000" algn="ctr" rotWithShape="0">
              <a:srgbClr val="000000">
                <a:alpha val="19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891748" y="920579"/>
            <a:ext cx="12913460" cy="1130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6000" b="1" dirty="0">
                <a:solidFill>
                  <a:srgbClr val="0D3512"/>
                </a:solidFill>
                <a:effectLst>
                  <a:outerShdw blurRad="88900" dist="88900" dir="2700000" algn="tl" rotWithShape="0">
                    <a:schemeClr val="tx1">
                      <a:alpha val="37000"/>
                    </a:schemeClr>
                  </a:outerShdw>
                </a:effectLst>
                <a:latin typeface="Bahnschrift SemiBold Condensed" panose="020B0502040204020203" pitchFamily="34" charset="0"/>
                <a:ea typeface="Fraunces Extra Bold" pitchFamily="34" charset="-122"/>
                <a:cs typeface="Fraunces Extra Bold" pitchFamily="34" charset="-120"/>
              </a:rPr>
              <a:t>The Problem : Traditional Paper = Massive Waste</a:t>
            </a:r>
            <a:endParaRPr lang="en-US" sz="6000" b="1" dirty="0">
              <a:solidFill>
                <a:srgbClr val="0D3512"/>
              </a:solidFill>
              <a:effectLst>
                <a:outerShdw blurRad="88900" dist="88900" dir="2700000" algn="tl" rotWithShape="0">
                  <a:schemeClr val="tx1">
                    <a:alpha val="37000"/>
                  </a:scheme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5" name="Plaque 34">
            <a:extLst>
              <a:ext uri="{FF2B5EF4-FFF2-40B4-BE49-F238E27FC236}">
                <a16:creationId xmlns:a16="http://schemas.microsoft.com/office/drawing/2014/main" id="{BE89720A-5608-DF58-9E19-6B9E83D7A3AA}"/>
              </a:ext>
            </a:extLst>
          </p:cNvPr>
          <p:cNvSpPr/>
          <p:nvPr/>
        </p:nvSpPr>
        <p:spPr>
          <a:xfrm>
            <a:off x="1528664" y="1775875"/>
            <a:ext cx="3727938" cy="4929726"/>
          </a:xfrm>
          <a:prstGeom prst="plaque">
            <a:avLst/>
          </a:prstGeom>
          <a:solidFill>
            <a:srgbClr val="085526"/>
          </a:solidFill>
          <a:ln>
            <a:noFill/>
          </a:ln>
          <a:effectLst>
            <a:innerShdw blurRad="901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623434"/>
                </a:solidFill>
              </a:ln>
            </a:endParaRPr>
          </a:p>
        </p:txBody>
      </p:sp>
      <p:sp>
        <p:nvSpPr>
          <p:cNvPr id="15" name="Text 12"/>
          <p:cNvSpPr/>
          <p:nvPr/>
        </p:nvSpPr>
        <p:spPr>
          <a:xfrm>
            <a:off x="2152099" y="3883923"/>
            <a:ext cx="2481067" cy="184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 consumers crave sustainable options, but current eco-friendly alternatives are often limited, aesthetically unappealing, or prohibitively expensive.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7" name="Plaque 36">
            <a:extLst>
              <a:ext uri="{FF2B5EF4-FFF2-40B4-BE49-F238E27FC236}">
                <a16:creationId xmlns:a16="http://schemas.microsoft.com/office/drawing/2014/main" id="{F117CFCB-B38C-6DF7-A23B-CC4FE5C127A0}"/>
              </a:ext>
            </a:extLst>
          </p:cNvPr>
          <p:cNvSpPr/>
          <p:nvPr/>
        </p:nvSpPr>
        <p:spPr>
          <a:xfrm>
            <a:off x="5689479" y="1810548"/>
            <a:ext cx="3727938" cy="4895053"/>
          </a:xfrm>
          <a:prstGeom prst="plaque">
            <a:avLst/>
          </a:prstGeom>
          <a:solidFill>
            <a:srgbClr val="085526"/>
          </a:solidFill>
          <a:ln>
            <a:noFill/>
          </a:ln>
          <a:effectLst>
            <a:innerShdw blurRad="901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rgbClr val="623434"/>
                </a:solidFill>
              </a:ln>
            </a:endParaRPr>
          </a:p>
        </p:txBody>
      </p:sp>
      <p:sp>
        <p:nvSpPr>
          <p:cNvPr id="38" name="Plaque 37">
            <a:extLst>
              <a:ext uri="{FF2B5EF4-FFF2-40B4-BE49-F238E27FC236}">
                <a16:creationId xmlns:a16="http://schemas.microsoft.com/office/drawing/2014/main" id="{6651A9B3-A48E-E776-52EC-D3F5B682D7A7}"/>
              </a:ext>
            </a:extLst>
          </p:cNvPr>
          <p:cNvSpPr/>
          <p:nvPr/>
        </p:nvSpPr>
        <p:spPr>
          <a:xfrm>
            <a:off x="9850294" y="1775874"/>
            <a:ext cx="3727938" cy="4929728"/>
          </a:xfrm>
          <a:prstGeom prst="plaque">
            <a:avLst/>
          </a:prstGeom>
          <a:solidFill>
            <a:srgbClr val="085526"/>
          </a:solidFill>
          <a:ln>
            <a:noFill/>
          </a:ln>
          <a:effectLst>
            <a:innerShdw blurRad="901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623434"/>
                </a:solidFill>
              </a:ln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509635" y="2608292"/>
            <a:ext cx="2409256" cy="493635"/>
          </a:xfrm>
          <a:prstGeom prst="rect">
            <a:avLst/>
          </a:prstGeom>
          <a:noFill/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Untapped 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Demand</a:t>
            </a:r>
            <a:endParaRPr lang="en-US" sz="28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876927" y="2680567"/>
            <a:ext cx="3031412" cy="349083"/>
          </a:xfrm>
          <a:prstGeom prst="rect">
            <a:avLst/>
          </a:prstGeom>
          <a:noFill/>
          <a:ln/>
          <a:effectLst>
            <a:outerShdw blurRad="127000" dist="38100" dir="2700000" algn="tl" rotWithShape="0">
              <a:prstClr val="black">
                <a:alpha val="44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Single-Use</a:t>
            </a:r>
            <a:r>
              <a:rPr lang="en-US" sz="1750" b="1" dirty="0">
                <a:solidFill>
                  <a:srgbClr val="623434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Culture</a:t>
            </a:r>
          </a:p>
        </p:txBody>
      </p:sp>
      <p:sp>
        <p:nvSpPr>
          <p:cNvPr id="10" name="Text 7"/>
          <p:cNvSpPr/>
          <p:nvPr/>
        </p:nvSpPr>
        <p:spPr>
          <a:xfrm>
            <a:off x="7332640" y="2614441"/>
            <a:ext cx="441616" cy="276806"/>
          </a:xfrm>
          <a:prstGeom prst="rect">
            <a:avLst/>
          </a:prstGeom>
          <a:noFill/>
          <a:ln/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Environmental</a:t>
            </a:r>
          </a:p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623434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</a:t>
            </a:r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Impact</a:t>
            </a:r>
          </a:p>
        </p:txBody>
      </p:sp>
      <p:sp>
        <p:nvSpPr>
          <p:cNvPr id="7" name="Text 4"/>
          <p:cNvSpPr/>
          <p:nvPr/>
        </p:nvSpPr>
        <p:spPr>
          <a:xfrm>
            <a:off x="6410382" y="3875960"/>
            <a:ext cx="2374347" cy="1158240"/>
          </a:xfrm>
          <a:prstGeom prst="rect">
            <a:avLst/>
          </a:prstGeom>
          <a:noFill/>
          <a:ln w="2286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90% of greeting cards &amp; invitations are used once and end up in landfills within days, contributing to an alarming waste cycle.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0686752" y="3875960"/>
            <a:ext cx="2232139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paper industry is a major culprit in deforestation, excessive water consumption, and significant carbon emissions.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 rot="16200000" flipH="1">
            <a:off x="3311722" y="2320394"/>
            <a:ext cx="161821" cy="248106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AA2E2B9C-C833-38B3-49E1-A5D304C9AC71}"/>
              </a:ext>
            </a:extLst>
          </p:cNvPr>
          <p:cNvSpPr/>
          <p:nvPr/>
        </p:nvSpPr>
        <p:spPr>
          <a:xfrm rot="16200000" flipH="1">
            <a:off x="7510525" y="2320625"/>
            <a:ext cx="161821" cy="248106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897D9D95-46FF-B431-0B1C-79DA6099C0ED}"/>
              </a:ext>
            </a:extLst>
          </p:cNvPr>
          <p:cNvSpPr/>
          <p:nvPr/>
        </p:nvSpPr>
        <p:spPr>
          <a:xfrm rot="16200000" flipH="1">
            <a:off x="11709328" y="2320856"/>
            <a:ext cx="161821" cy="248106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316F3DF-B2E3-75AE-EC3D-4D2AFAABE622}"/>
              </a:ext>
            </a:extLst>
          </p:cNvPr>
          <p:cNvSpPr/>
          <p:nvPr/>
        </p:nvSpPr>
        <p:spPr>
          <a:xfrm>
            <a:off x="12725400" y="7721632"/>
            <a:ext cx="1798320" cy="39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824549-CBFA-4144-C5D3-287DA37BA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"/>
          <a:stretch>
            <a:fillRect/>
          </a:stretch>
        </p:blipFill>
        <p:spPr>
          <a:xfrm>
            <a:off x="0" y="0"/>
            <a:ext cx="14630400" cy="82344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3700715" y="5483907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$4.02B</a:t>
            </a:r>
            <a:endParaRPr lang="en-US" sz="2450" dirty="0">
              <a:solidFill>
                <a:srgbClr val="0D3512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069081"/>
            <a:ext cx="45719" cy="4571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1" name="Text 7"/>
          <p:cNvSpPr/>
          <p:nvPr/>
        </p:nvSpPr>
        <p:spPr>
          <a:xfrm>
            <a:off x="16948211" y="2300415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12.6%</a:t>
            </a:r>
            <a:endParaRPr lang="en-US" sz="2450" dirty="0">
              <a:solidFill>
                <a:srgbClr val="0D3512"/>
              </a:solidFill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069081"/>
            <a:ext cx="45719" cy="4571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5" name="Text 10"/>
          <p:cNvSpPr/>
          <p:nvPr/>
        </p:nvSpPr>
        <p:spPr>
          <a:xfrm>
            <a:off x="16924821" y="5483907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$3.8B</a:t>
            </a:r>
            <a:endParaRPr lang="en-US" sz="2450" dirty="0">
              <a:solidFill>
                <a:srgbClr val="0D3512"/>
              </a:solidFill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069081"/>
            <a:ext cx="45719" cy="4571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ext 0"/>
          <p:cNvSpPr/>
          <p:nvPr/>
        </p:nvSpPr>
        <p:spPr>
          <a:xfrm>
            <a:off x="3538003" y="-1139163"/>
            <a:ext cx="7873246" cy="777954"/>
          </a:xfrm>
          <a:prstGeom prst="rect">
            <a:avLst/>
          </a:prstGeom>
          <a:noFill/>
          <a:ln/>
          <a:effectLst>
            <a:outerShdw blurRad="88900" dist="88900" algn="l" rotWithShape="0">
              <a:prstClr val="black">
                <a:alpha val="37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600" b="1" dirty="0">
                <a:solidFill>
                  <a:srgbClr val="0D3512"/>
                </a:solidFill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The Opportunity: A Cultural Shift Towards Sustainable Gifting</a:t>
            </a:r>
            <a:endParaRPr lang="en-US" sz="3600" dirty="0">
              <a:solidFill>
                <a:srgbClr val="0D3512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4069081"/>
            <a:ext cx="45719" cy="4571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3" name="Text 1"/>
          <p:cNvSpPr/>
          <p:nvPr/>
        </p:nvSpPr>
        <p:spPr>
          <a:xfrm>
            <a:off x="-3560094" y="2300415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8-10M</a:t>
            </a:r>
            <a:endParaRPr lang="en-US" sz="2450" dirty="0">
              <a:solidFill>
                <a:srgbClr val="0D351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A88FE1-7856-A39E-0707-1D623A9A52C8}"/>
              </a:ext>
            </a:extLst>
          </p:cNvPr>
          <p:cNvGrpSpPr/>
          <p:nvPr/>
        </p:nvGrpSpPr>
        <p:grpSpPr>
          <a:xfrm>
            <a:off x="-4686901" y="3566764"/>
            <a:ext cx="3784759" cy="695325"/>
            <a:chOff x="3378518" y="3522345"/>
            <a:chExt cx="3784759" cy="69532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A89C5D3-A972-5473-ADAB-578738A5FC8B}"/>
                </a:ext>
              </a:extLst>
            </p:cNvPr>
            <p:cNvGrpSpPr/>
            <p:nvPr/>
          </p:nvGrpSpPr>
          <p:grpSpPr>
            <a:xfrm>
              <a:off x="3378518" y="3522345"/>
              <a:ext cx="3784759" cy="695325"/>
              <a:chOff x="3378518" y="3522345"/>
              <a:chExt cx="3784759" cy="695325"/>
            </a:xfrm>
          </p:grpSpPr>
          <p:sp>
            <p:nvSpPr>
              <p:cNvPr id="5" name="Text 2"/>
              <p:cNvSpPr/>
              <p:nvPr/>
            </p:nvSpPr>
            <p:spPr>
              <a:xfrm>
                <a:off x="4286309" y="3522345"/>
                <a:ext cx="1867138" cy="1944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500"/>
                  </a:lnSpc>
                  <a:buNone/>
                </a:pPr>
                <a:r>
                  <a:rPr lang="en-US" b="1" i="1" dirty="0">
                    <a:solidFill>
                      <a:srgbClr val="0D3512"/>
                    </a:solidFill>
                    <a:latin typeface="Bahnschrift SemiBold SemiConden" panose="020B0502040204020203" pitchFamily="34" charset="0"/>
                    <a:ea typeface="Fraunces Extra Bold" pitchFamily="34" charset="-122"/>
                    <a:cs typeface="Fraunces Extra Bold" pitchFamily="34" charset="-120"/>
                  </a:rPr>
                  <a:t>Indian Weddings</a:t>
                </a:r>
                <a:endParaRPr lang="en-US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endParaRPr>
              </a:p>
            </p:txBody>
          </p:sp>
          <p:sp>
            <p:nvSpPr>
              <p:cNvPr id="6" name="Text 3"/>
              <p:cNvSpPr/>
              <p:nvPr/>
            </p:nvSpPr>
            <p:spPr>
              <a:xfrm>
                <a:off x="3378518" y="3819525"/>
                <a:ext cx="3784759" cy="3981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550"/>
                  </a:lnSpc>
                  <a:buNone/>
                </a:pPr>
                <a:r>
                  <a:rPr lang="en-US" sz="1050" dirty="0">
                    <a:solidFill>
                      <a:srgbClr val="0D3512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Annually, fueling a $130B economy ripe for sustainable innovation.</a:t>
                </a:r>
                <a:endParaRPr lang="en-US" sz="1050" dirty="0">
                  <a:solidFill>
                    <a:srgbClr val="0D3512"/>
                  </a:solidFill>
                </a:endParaRPr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2D9E221-3E36-8493-E950-BDA669CBEDAE}"/>
                </a:ext>
              </a:extLst>
            </p:cNvPr>
            <p:cNvSpPr/>
            <p:nvPr/>
          </p:nvSpPr>
          <p:spPr>
            <a:xfrm>
              <a:off x="4306606" y="3541345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8D3807-D45D-2211-B7BD-EAA60AAAA5FC}"/>
              </a:ext>
            </a:extLst>
          </p:cNvPr>
          <p:cNvGrpSpPr/>
          <p:nvPr/>
        </p:nvGrpSpPr>
        <p:grpSpPr>
          <a:xfrm>
            <a:off x="15821404" y="3566764"/>
            <a:ext cx="3784759" cy="695325"/>
            <a:chOff x="7474506" y="3522345"/>
            <a:chExt cx="3784759" cy="695325"/>
          </a:xfrm>
        </p:grpSpPr>
        <p:sp>
          <p:nvSpPr>
            <p:cNvPr id="13" name="Text 8"/>
            <p:cNvSpPr/>
            <p:nvPr/>
          </p:nvSpPr>
          <p:spPr>
            <a:xfrm>
              <a:off x="8332409" y="3522345"/>
              <a:ext cx="1986870" cy="194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b="1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rPr>
                <a:t>Eco-Friendly Growth</a:t>
              </a:r>
            </a:p>
          </p:txBody>
        </p:sp>
        <p:sp>
          <p:nvSpPr>
            <p:cNvPr id="14" name="Text 9"/>
            <p:cNvSpPr/>
            <p:nvPr/>
          </p:nvSpPr>
          <p:spPr>
            <a:xfrm>
              <a:off x="7474506" y="3819525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CAGR of the Indian eco-friendly products market, highlighting consumer demand.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1DC0B6A-3B58-454F-F3EE-32D15B4F7F54}"/>
                </a:ext>
              </a:extLst>
            </p:cNvPr>
            <p:cNvSpPr/>
            <p:nvPr/>
          </p:nvSpPr>
          <p:spPr>
            <a:xfrm>
              <a:off x="8226820" y="3566764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6E46561-C2C5-0A57-9692-32A86A79FDCA}"/>
              </a:ext>
            </a:extLst>
          </p:cNvPr>
          <p:cNvGrpSpPr/>
          <p:nvPr/>
        </p:nvGrpSpPr>
        <p:grpSpPr>
          <a:xfrm>
            <a:off x="15798014" y="6750256"/>
            <a:ext cx="3784759" cy="1139969"/>
            <a:chOff x="7474566" y="6705837"/>
            <a:chExt cx="3784759" cy="1139969"/>
          </a:xfrm>
        </p:grpSpPr>
        <p:sp>
          <p:nvSpPr>
            <p:cNvPr id="17" name="Text 11"/>
            <p:cNvSpPr/>
            <p:nvPr/>
          </p:nvSpPr>
          <p:spPr>
            <a:xfrm>
              <a:off x="8309371" y="6705837"/>
              <a:ext cx="2042164" cy="194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b="1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rPr>
                <a:t>Global Eco-Gift Cards</a:t>
              </a:r>
            </a:p>
          </p:txBody>
        </p:sp>
        <p:sp>
          <p:nvSpPr>
            <p:cNvPr id="18" name="Text 12"/>
            <p:cNvSpPr/>
            <p:nvPr/>
          </p:nvSpPr>
          <p:spPr>
            <a:xfrm>
              <a:off x="7474566" y="7003017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Market projection by 2033, growing at a 12.2% CAGR, indicating a global trend.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7474566" y="7447661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Sustainability is no longer optional—it is expected by a growing conscious consumer base.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E721DAA-E2AE-5F48-3470-81AFF7762E16}"/>
                </a:ext>
              </a:extLst>
            </p:cNvPr>
            <p:cNvSpPr/>
            <p:nvPr/>
          </p:nvSpPr>
          <p:spPr>
            <a:xfrm>
              <a:off x="8226820" y="6705837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7A5F3B-8D47-0832-08BE-04CF0DB5F67A}"/>
              </a:ext>
            </a:extLst>
          </p:cNvPr>
          <p:cNvGrpSpPr/>
          <p:nvPr/>
        </p:nvGrpSpPr>
        <p:grpSpPr>
          <a:xfrm>
            <a:off x="-4827522" y="6750256"/>
            <a:ext cx="3784759" cy="695325"/>
            <a:chOff x="3378578" y="6705837"/>
            <a:chExt cx="3784759" cy="695325"/>
          </a:xfrm>
        </p:grpSpPr>
        <p:sp>
          <p:nvSpPr>
            <p:cNvPr id="9" name="Text 5"/>
            <p:cNvSpPr/>
            <p:nvPr/>
          </p:nvSpPr>
          <p:spPr>
            <a:xfrm>
              <a:off x="4286369" y="6705837"/>
              <a:ext cx="1867138" cy="194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b="1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rPr>
                <a:t>Stationery Market</a:t>
              </a:r>
            </a:p>
          </p:txBody>
        </p:sp>
        <p:sp>
          <p:nvSpPr>
            <p:cNvPr id="10" name="Text 6"/>
            <p:cNvSpPr/>
            <p:nvPr/>
          </p:nvSpPr>
          <p:spPr>
            <a:xfrm>
              <a:off x="3378578" y="7003017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Projected size by 2030, with a 5.64% CAGR, demonstrating robust growth.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D4377B3-757D-8A01-D424-E81B8CF58C16}"/>
                </a:ext>
              </a:extLst>
            </p:cNvPr>
            <p:cNvSpPr/>
            <p:nvPr/>
          </p:nvSpPr>
          <p:spPr>
            <a:xfrm>
              <a:off x="4286369" y="6705837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7F22-CB4A-9836-AE91-4830049E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942538D-4AA1-3C10-DBF0-617F676F10E9}"/>
              </a:ext>
            </a:extLst>
          </p:cNvPr>
          <p:cNvSpPr/>
          <p:nvPr/>
        </p:nvSpPr>
        <p:spPr>
          <a:xfrm>
            <a:off x="12725400" y="7721632"/>
            <a:ext cx="1798320" cy="39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A60859A-964F-B450-E01E-DFFECBD997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"/>
          <a:stretch>
            <a:fillRect/>
          </a:stretch>
        </p:blipFill>
        <p:spPr>
          <a:xfrm>
            <a:off x="0" y="0"/>
            <a:ext cx="14630400" cy="823448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23F89F60-1E7F-528F-6A6E-16B45E187B8F}"/>
              </a:ext>
            </a:extLst>
          </p:cNvPr>
          <p:cNvSpPr/>
          <p:nvPr/>
        </p:nvSpPr>
        <p:spPr>
          <a:xfrm>
            <a:off x="4505445" y="5483907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$4.02B</a:t>
            </a:r>
            <a:endParaRPr lang="en-US" sz="2450" dirty="0">
              <a:solidFill>
                <a:srgbClr val="0D3512"/>
              </a:solidFill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EFE5E8D-6F5D-8D8D-1386-2BC7BA4BC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388" y="4657733"/>
            <a:ext cx="1867138" cy="18671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EBC26623-D61A-3177-9AAC-0B670904840E}"/>
              </a:ext>
            </a:extLst>
          </p:cNvPr>
          <p:cNvSpPr/>
          <p:nvPr/>
        </p:nvSpPr>
        <p:spPr>
          <a:xfrm>
            <a:off x="8601373" y="2300415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12.6%</a:t>
            </a:r>
            <a:endParaRPr lang="en-US" sz="2450" dirty="0">
              <a:solidFill>
                <a:srgbClr val="0D3512"/>
              </a:solidFill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89F7B5EC-D92D-6965-03A5-0CACD84D2F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573" y="1522461"/>
            <a:ext cx="1867138" cy="18671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F450A76E-BB35-D276-F59B-3F409E42599D}"/>
              </a:ext>
            </a:extLst>
          </p:cNvPr>
          <p:cNvSpPr/>
          <p:nvPr/>
        </p:nvSpPr>
        <p:spPr>
          <a:xfrm>
            <a:off x="8601433" y="5483907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$3.8B</a:t>
            </a:r>
            <a:endParaRPr lang="en-US" sz="2450" dirty="0">
              <a:solidFill>
                <a:srgbClr val="0D3512"/>
              </a:solidFill>
            </a:endParaRPr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E1050832-FC85-9278-BC5E-EF44E9098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376" y="4643743"/>
            <a:ext cx="1867138" cy="18671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72BC128-A3C1-2087-625F-AF51989168AB}"/>
              </a:ext>
            </a:extLst>
          </p:cNvPr>
          <p:cNvSpPr/>
          <p:nvPr/>
        </p:nvSpPr>
        <p:spPr>
          <a:xfrm>
            <a:off x="3537943" y="620087"/>
            <a:ext cx="7873246" cy="777954"/>
          </a:xfrm>
          <a:prstGeom prst="rect">
            <a:avLst/>
          </a:prstGeom>
          <a:noFill/>
          <a:ln/>
          <a:effectLst>
            <a:outerShdw blurRad="88900" dist="88900" algn="l" rotWithShape="0">
              <a:prstClr val="black">
                <a:alpha val="37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600" b="1" dirty="0">
                <a:solidFill>
                  <a:srgbClr val="0D3512"/>
                </a:solidFill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The Opportunity: A Cultural Shift Towards Sustainable Gifting</a:t>
            </a:r>
            <a:endParaRPr lang="en-US" sz="3600" dirty="0">
              <a:solidFill>
                <a:srgbClr val="0D3512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D69DADB-A31E-4386-81E8-FD53AABB2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7388" y="1539130"/>
            <a:ext cx="1867138" cy="18671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6182D60E-7C52-501A-16FE-926925C9A074}"/>
              </a:ext>
            </a:extLst>
          </p:cNvPr>
          <p:cNvSpPr/>
          <p:nvPr/>
        </p:nvSpPr>
        <p:spPr>
          <a:xfrm>
            <a:off x="4505385" y="2300415"/>
            <a:ext cx="153102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0D3512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8-10M</a:t>
            </a:r>
            <a:endParaRPr lang="en-US" sz="2450" dirty="0">
              <a:solidFill>
                <a:srgbClr val="0D351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C3EBDE0-0456-E211-F4C0-423CEDB3E965}"/>
              </a:ext>
            </a:extLst>
          </p:cNvPr>
          <p:cNvGrpSpPr/>
          <p:nvPr/>
        </p:nvGrpSpPr>
        <p:grpSpPr>
          <a:xfrm>
            <a:off x="3378578" y="3566764"/>
            <a:ext cx="3784759" cy="695325"/>
            <a:chOff x="3378518" y="3522345"/>
            <a:chExt cx="3784759" cy="69532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02E0558-D6D1-A702-56BB-04169CAD8632}"/>
                </a:ext>
              </a:extLst>
            </p:cNvPr>
            <p:cNvGrpSpPr/>
            <p:nvPr/>
          </p:nvGrpSpPr>
          <p:grpSpPr>
            <a:xfrm>
              <a:off x="3378518" y="3522345"/>
              <a:ext cx="3784759" cy="695325"/>
              <a:chOff x="3378518" y="3522345"/>
              <a:chExt cx="3784759" cy="695325"/>
            </a:xfrm>
          </p:grpSpPr>
          <p:sp>
            <p:nvSpPr>
              <p:cNvPr id="5" name="Text 2">
                <a:extLst>
                  <a:ext uri="{FF2B5EF4-FFF2-40B4-BE49-F238E27FC236}">
                    <a16:creationId xmlns:a16="http://schemas.microsoft.com/office/drawing/2014/main" id="{71893EFE-4C7B-2DB3-642D-EB5F71101FC1}"/>
                  </a:ext>
                </a:extLst>
              </p:cNvPr>
              <p:cNvSpPr/>
              <p:nvPr/>
            </p:nvSpPr>
            <p:spPr>
              <a:xfrm>
                <a:off x="4286309" y="3522345"/>
                <a:ext cx="1867138" cy="1944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500"/>
                  </a:lnSpc>
                  <a:buNone/>
                </a:pPr>
                <a:r>
                  <a:rPr lang="en-US" b="1" i="1" dirty="0">
                    <a:solidFill>
                      <a:srgbClr val="0D3512"/>
                    </a:solidFill>
                    <a:latin typeface="Bahnschrift SemiBold SemiConden" panose="020B0502040204020203" pitchFamily="34" charset="0"/>
                    <a:ea typeface="Fraunces Extra Bold" pitchFamily="34" charset="-122"/>
                    <a:cs typeface="Fraunces Extra Bold" pitchFamily="34" charset="-120"/>
                  </a:rPr>
                  <a:t>Indian Weddings</a:t>
                </a:r>
                <a:endParaRPr lang="en-US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endParaRPr>
              </a:p>
            </p:txBody>
          </p:sp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274091EC-CF0B-BCD1-AADC-BC799CA8E710}"/>
                  </a:ext>
                </a:extLst>
              </p:cNvPr>
              <p:cNvSpPr/>
              <p:nvPr/>
            </p:nvSpPr>
            <p:spPr>
              <a:xfrm>
                <a:off x="3378518" y="3819525"/>
                <a:ext cx="3784759" cy="3981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ts val="1550"/>
                  </a:lnSpc>
                  <a:buNone/>
                </a:pPr>
                <a:r>
                  <a:rPr lang="en-US" sz="1050" dirty="0">
                    <a:solidFill>
                      <a:srgbClr val="0D3512"/>
                    </a:solidFill>
                    <a:latin typeface="Nobile" pitchFamily="34" charset="0"/>
                    <a:ea typeface="Nobile" pitchFamily="34" charset="-122"/>
                    <a:cs typeface="Nobile" pitchFamily="34" charset="-120"/>
                  </a:rPr>
                  <a:t>Annually, fueling a $130B economy ripe for sustainable innovation.</a:t>
                </a:r>
                <a:endParaRPr lang="en-US" sz="1050" dirty="0">
                  <a:solidFill>
                    <a:srgbClr val="0D3512"/>
                  </a:solidFill>
                </a:endParaRPr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0287C5-B69A-9BCC-276A-4254082B5B57}"/>
                </a:ext>
              </a:extLst>
            </p:cNvPr>
            <p:cNvSpPr/>
            <p:nvPr/>
          </p:nvSpPr>
          <p:spPr>
            <a:xfrm>
              <a:off x="4306606" y="3541345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C1F3966-9BAF-9941-9049-754F4CE44151}"/>
              </a:ext>
            </a:extLst>
          </p:cNvPr>
          <p:cNvGrpSpPr/>
          <p:nvPr/>
        </p:nvGrpSpPr>
        <p:grpSpPr>
          <a:xfrm>
            <a:off x="7474566" y="3566764"/>
            <a:ext cx="3784759" cy="695325"/>
            <a:chOff x="7474506" y="3522345"/>
            <a:chExt cx="3784759" cy="695325"/>
          </a:xfrm>
        </p:grpSpPr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727E9C9F-E0F9-74CC-583A-96843A2EF81F}"/>
                </a:ext>
              </a:extLst>
            </p:cNvPr>
            <p:cNvSpPr/>
            <p:nvPr/>
          </p:nvSpPr>
          <p:spPr>
            <a:xfrm>
              <a:off x="8332409" y="3522345"/>
              <a:ext cx="1986870" cy="194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b="1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rPr>
                <a:t>Eco-Friendly Growth</a:t>
              </a: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A7F3F350-F92D-FB48-F7FF-FB835718D086}"/>
                </a:ext>
              </a:extLst>
            </p:cNvPr>
            <p:cNvSpPr/>
            <p:nvPr/>
          </p:nvSpPr>
          <p:spPr>
            <a:xfrm>
              <a:off x="7474506" y="3819525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CAGR of the Indian eco-friendly products market, highlighting consumer demand.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85E715F-C91C-88B6-4DFA-39703678180D}"/>
                </a:ext>
              </a:extLst>
            </p:cNvPr>
            <p:cNvSpPr/>
            <p:nvPr/>
          </p:nvSpPr>
          <p:spPr>
            <a:xfrm>
              <a:off x="8226820" y="3566764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F8539E-A32B-6549-8E42-81FB1EB1A5A3}"/>
              </a:ext>
            </a:extLst>
          </p:cNvPr>
          <p:cNvGrpSpPr/>
          <p:nvPr/>
        </p:nvGrpSpPr>
        <p:grpSpPr>
          <a:xfrm>
            <a:off x="7474626" y="6750256"/>
            <a:ext cx="3784759" cy="1139969"/>
            <a:chOff x="7474566" y="6705837"/>
            <a:chExt cx="3784759" cy="1139969"/>
          </a:xfrm>
        </p:grpSpPr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46A0E377-E841-6226-BEE4-8845F5D75732}"/>
                </a:ext>
              </a:extLst>
            </p:cNvPr>
            <p:cNvSpPr/>
            <p:nvPr/>
          </p:nvSpPr>
          <p:spPr>
            <a:xfrm>
              <a:off x="8309371" y="6705837"/>
              <a:ext cx="2042164" cy="194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b="1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rPr>
                <a:t>Global Eco-Gift Cards</a:t>
              </a:r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224DF9F2-617F-AA85-6564-05C4744AC3D5}"/>
                </a:ext>
              </a:extLst>
            </p:cNvPr>
            <p:cNvSpPr/>
            <p:nvPr/>
          </p:nvSpPr>
          <p:spPr>
            <a:xfrm>
              <a:off x="7474566" y="7003017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Market projection by 2033, growing at a 12.2% CAGR, indicating a global trend.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039D7662-CA41-1768-042E-6AA615AE8AAD}"/>
                </a:ext>
              </a:extLst>
            </p:cNvPr>
            <p:cNvSpPr/>
            <p:nvPr/>
          </p:nvSpPr>
          <p:spPr>
            <a:xfrm>
              <a:off x="7474566" y="7447661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Sustainability is no longer optional—it is expected by a growing conscious consumer base.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F7FDF16-0D89-7778-6CA2-9EB5C38F2345}"/>
                </a:ext>
              </a:extLst>
            </p:cNvPr>
            <p:cNvSpPr/>
            <p:nvPr/>
          </p:nvSpPr>
          <p:spPr>
            <a:xfrm>
              <a:off x="8226820" y="6705837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5C511C-58A0-3A71-2964-16B5F16EC14E}"/>
              </a:ext>
            </a:extLst>
          </p:cNvPr>
          <p:cNvGrpSpPr/>
          <p:nvPr/>
        </p:nvGrpSpPr>
        <p:grpSpPr>
          <a:xfrm>
            <a:off x="3378638" y="6750256"/>
            <a:ext cx="3784759" cy="695325"/>
            <a:chOff x="3378578" y="6705837"/>
            <a:chExt cx="3784759" cy="695325"/>
          </a:xfrm>
        </p:grpSpPr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FF45483E-3C2F-E604-4E80-592D235688B7}"/>
                </a:ext>
              </a:extLst>
            </p:cNvPr>
            <p:cNvSpPr/>
            <p:nvPr/>
          </p:nvSpPr>
          <p:spPr>
            <a:xfrm>
              <a:off x="4286369" y="6705837"/>
              <a:ext cx="1867138" cy="1944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b="1" i="1" dirty="0">
                  <a:solidFill>
                    <a:srgbClr val="0D3512"/>
                  </a:solidFill>
                  <a:latin typeface="Bahnschrift SemiBold SemiConden" panose="020B0502040204020203" pitchFamily="34" charset="0"/>
                </a:rPr>
                <a:t>Stationery Market</a:t>
              </a: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92B375CF-F991-549D-4AC1-3A087D2D8542}"/>
                </a:ext>
              </a:extLst>
            </p:cNvPr>
            <p:cNvSpPr/>
            <p:nvPr/>
          </p:nvSpPr>
          <p:spPr>
            <a:xfrm>
              <a:off x="3378578" y="7003017"/>
              <a:ext cx="3784759" cy="398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1050" dirty="0">
                  <a:solidFill>
                    <a:srgbClr val="0D3512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Projected size by 2030, with a 5.64% CAGR, demonstrating robust growth.</a:t>
              </a:r>
              <a:endParaRPr lang="en-US" sz="1050" dirty="0">
                <a:solidFill>
                  <a:srgbClr val="0D351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5EBC0EA-1132-129D-1B8D-4F9519E80C1C}"/>
                </a:ext>
              </a:extLst>
            </p:cNvPr>
            <p:cNvSpPr/>
            <p:nvPr/>
          </p:nvSpPr>
          <p:spPr>
            <a:xfrm>
              <a:off x="4286369" y="6705837"/>
              <a:ext cx="105589" cy="105589"/>
            </a:xfrm>
            <a:prstGeom prst="ellipse">
              <a:avLst/>
            </a:prstGeom>
            <a:solidFill>
              <a:srgbClr val="0855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160"/>
            </a:p>
          </p:txBody>
        </p:sp>
      </p:grpSp>
    </p:spTree>
    <p:extLst>
      <p:ext uri="{BB962C8B-B14F-4D97-AF65-F5344CB8AC3E}">
        <p14:creationId xmlns:p14="http://schemas.microsoft.com/office/powerpoint/2010/main" val="2084157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B73B1-813D-D5EC-0B37-1E4903D5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AE273D-293B-1DD7-B471-EC90C02B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"/>
          <a:stretch>
            <a:fillRect/>
          </a:stretch>
        </p:blipFill>
        <p:spPr>
          <a:xfrm>
            <a:off x="3938" y="5981224"/>
            <a:ext cx="514222" cy="224837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50CCD1B-B524-36E9-A562-2BA76E936CB1}"/>
              </a:ext>
            </a:extLst>
          </p:cNvPr>
          <p:cNvSpPr/>
          <p:nvPr/>
        </p:nvSpPr>
        <p:spPr>
          <a:xfrm>
            <a:off x="3326011" y="-1558358"/>
            <a:ext cx="7978378" cy="104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400" b="1" dirty="0">
                <a:solidFill>
                  <a:srgbClr val="0D351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Our Solution: SproutSquare — Paper That Turns Into a Plant</a:t>
            </a:r>
            <a:endParaRPr lang="en-US" sz="4400" dirty="0">
              <a:solidFill>
                <a:srgbClr val="0D351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7635BA-18E9-EBD9-A942-7C34EB771C0B}"/>
              </a:ext>
            </a:extLst>
          </p:cNvPr>
          <p:cNvSpPr/>
          <p:nvPr/>
        </p:nvSpPr>
        <p:spPr>
          <a:xfrm>
            <a:off x="4059838" y="-1003805"/>
            <a:ext cx="7978378" cy="79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spc="160" dirty="0">
                <a:solidFill>
                  <a:srgbClr val="085526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SproutSquare transforms ordinary paper into a living legacy. Our seed-embedded products are designed for seamless integration into daily life, offering an eco-conscious alternative that brings joy and new life.</a:t>
            </a:r>
            <a:endParaRPr lang="en-US" sz="1400" b="1" spc="160" dirty="0">
              <a:solidFill>
                <a:srgbClr val="085526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265B67-4B19-5E65-E5B6-536ABE223034}"/>
              </a:ext>
            </a:extLst>
          </p:cNvPr>
          <p:cNvGrpSpPr/>
          <p:nvPr/>
        </p:nvGrpSpPr>
        <p:grpSpPr>
          <a:xfrm>
            <a:off x="15040933" y="3303151"/>
            <a:ext cx="7978378" cy="1225868"/>
            <a:chOff x="3599197" y="3303151"/>
            <a:chExt cx="7978378" cy="1225868"/>
          </a:xfrm>
        </p:grpSpPr>
        <p:pic>
          <p:nvPicPr>
            <p:cNvPr id="5" name="Image 1" descr="preencoded.png">
              <a:extLst>
                <a:ext uri="{FF2B5EF4-FFF2-40B4-BE49-F238E27FC236}">
                  <a16:creationId xmlns:a16="http://schemas.microsoft.com/office/drawing/2014/main" id="{D7329159-6CD1-21AA-2224-27F84F0C3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  <a14:imgEffect>
                        <a14:brightnessContrast bright="-5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99197" y="3303151"/>
              <a:ext cx="832604" cy="1225868"/>
            </a:xfrm>
            <a:prstGeom prst="rect">
              <a:avLst/>
            </a:prstGeom>
            <a:effectLst>
              <a:innerShdw blurRad="266700">
                <a:prstClr val="black"/>
              </a:innerShdw>
            </a:effectLst>
          </p:spPr>
        </p:pic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104061AC-8CAB-C013-E5D7-3A68374289EC}"/>
                </a:ext>
              </a:extLst>
            </p:cNvPr>
            <p:cNvSpPr/>
            <p:nvPr/>
          </p:nvSpPr>
          <p:spPr>
            <a:xfrm>
              <a:off x="4598250" y="3469601"/>
              <a:ext cx="2081689" cy="2601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b="1" dirty="0">
                  <a:solidFill>
                    <a:srgbClr val="0D351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Bahnschrift SemiBold SemiConden" panose="020B0502040204020203" pitchFamily="34" charset="0"/>
                  <a:ea typeface="Fraunces Extra Bold" pitchFamily="34" charset="-122"/>
                  <a:cs typeface="Fraunces Extra Bold" pitchFamily="34" charset="-120"/>
                </a:rPr>
                <a:t>Used Like Normal</a:t>
              </a:r>
              <a:endParaRPr lang="en-US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82D9F36B-EC12-AE07-69DB-C81F497E45AF}"/>
                </a:ext>
              </a:extLst>
            </p:cNvPr>
            <p:cNvSpPr/>
            <p:nvPr/>
          </p:nvSpPr>
          <p:spPr>
            <a:xfrm>
              <a:off x="4598250" y="3829646"/>
              <a:ext cx="6979325" cy="532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085526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Our products function just like traditional stationery, maintaining quality and aesthetic appeal.</a:t>
              </a:r>
              <a:endParaRPr lang="en-US" sz="1300" dirty="0">
                <a:solidFill>
                  <a:srgbClr val="085526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1EEFF8-57C4-A296-DF07-B80BC401545C}"/>
              </a:ext>
            </a:extLst>
          </p:cNvPr>
          <p:cNvGrpSpPr/>
          <p:nvPr/>
        </p:nvGrpSpPr>
        <p:grpSpPr>
          <a:xfrm>
            <a:off x="-8569366" y="4529019"/>
            <a:ext cx="7978378" cy="999173"/>
            <a:chOff x="3599197" y="4529019"/>
            <a:chExt cx="7978378" cy="999173"/>
          </a:xfrm>
        </p:grpSpPr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9D30A5EE-7266-82DF-4B8E-FC6186A65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  <a14:imgEffect>
                        <a14:brightnessContrast bright="-5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99197" y="4529019"/>
              <a:ext cx="832604" cy="999173"/>
            </a:xfrm>
            <a:prstGeom prst="rect">
              <a:avLst/>
            </a:prstGeom>
            <a:effectLst>
              <a:innerShdw blurRad="266700">
                <a:prstClr val="black"/>
              </a:innerShdw>
            </a:effectLst>
          </p:spPr>
        </p:pic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E055E83C-5395-00CD-32AE-85CE2B3FE945}"/>
                </a:ext>
              </a:extLst>
            </p:cNvPr>
            <p:cNvSpPr/>
            <p:nvPr/>
          </p:nvSpPr>
          <p:spPr>
            <a:xfrm>
              <a:off x="4598250" y="4695468"/>
              <a:ext cx="2081689" cy="2601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b="1" dirty="0">
                  <a:solidFill>
                    <a:srgbClr val="0D351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Bahnschrift SemiBold SemiConden" panose="020B0502040204020203" pitchFamily="34" charset="0"/>
                  <a:ea typeface="Fraunces Extra Bold" pitchFamily="34" charset="-122"/>
                  <a:cs typeface="Fraunces Extra Bold" pitchFamily="34" charset="-120"/>
                </a:rPr>
                <a:t>Plantable</a:t>
              </a:r>
              <a:endParaRPr lang="en-US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2E6531E1-14D3-FCEA-EA5B-D74CE934B826}"/>
                </a:ext>
              </a:extLst>
            </p:cNvPr>
            <p:cNvSpPr/>
            <p:nvPr/>
          </p:nvSpPr>
          <p:spPr>
            <a:xfrm>
              <a:off x="4598250" y="5055513"/>
              <a:ext cx="6979325" cy="266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085526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After use, simply plant the paper in soil, turning what would be waste into growth.</a:t>
              </a:r>
              <a:endParaRPr lang="en-US" sz="1300" dirty="0">
                <a:solidFill>
                  <a:srgbClr val="085526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0C0074E-8018-ED83-4786-E0A2E8E7BF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888">
            <a:off x="-9301232" y="2847033"/>
            <a:ext cx="10229450" cy="14257280"/>
          </a:xfrm>
          <a:prstGeom prst="rect">
            <a:avLst/>
          </a:prstGeom>
          <a:effectLst>
            <a:outerShdw blurRad="88900" dist="101600" dir="3000000" sx="101000" sy="101000" algn="tl" rotWithShape="0">
              <a:prstClr val="black">
                <a:alpha val="42000"/>
              </a:prstClr>
            </a:outerShdw>
          </a:effec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560F0F4-450C-70C8-FBE6-75C62BE8E393}"/>
              </a:ext>
            </a:extLst>
          </p:cNvPr>
          <p:cNvGrpSpPr/>
          <p:nvPr/>
        </p:nvGrpSpPr>
        <p:grpSpPr>
          <a:xfrm>
            <a:off x="15064381" y="5528191"/>
            <a:ext cx="7978378" cy="1225868"/>
            <a:chOff x="3599197" y="5528191"/>
            <a:chExt cx="7978378" cy="1225868"/>
          </a:xfrm>
        </p:grpSpPr>
        <p:pic>
          <p:nvPicPr>
            <p:cNvPr id="11" name="Image 3" descr="preencoded.png">
              <a:extLst>
                <a:ext uri="{FF2B5EF4-FFF2-40B4-BE49-F238E27FC236}">
                  <a16:creationId xmlns:a16="http://schemas.microsoft.com/office/drawing/2014/main" id="{A51CACAD-9B02-0EF8-564E-939D36CF6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aturation sat="400000"/>
                      </a14:imgEffect>
                      <a14:imgEffect>
                        <a14:brightnessContrast bright="-5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99197" y="5528191"/>
              <a:ext cx="832604" cy="1225868"/>
            </a:xfrm>
            <a:prstGeom prst="rect">
              <a:avLst/>
            </a:prstGeom>
            <a:effectLst>
              <a:innerShdw blurRad="266700">
                <a:prstClr val="black"/>
              </a:innerShdw>
            </a:effectLst>
          </p:spPr>
        </p:pic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C5AF6D09-2E96-A672-B88D-60CD653C6514}"/>
                </a:ext>
              </a:extLst>
            </p:cNvPr>
            <p:cNvSpPr/>
            <p:nvPr/>
          </p:nvSpPr>
          <p:spPr>
            <a:xfrm>
              <a:off x="4598250" y="5694641"/>
              <a:ext cx="2081689" cy="2601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b="1" dirty="0">
                  <a:solidFill>
                    <a:srgbClr val="0D351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Bahnschrift SemiBold SemiConden" panose="020B0502040204020203" pitchFamily="34" charset="0"/>
                  <a:ea typeface="Fraunces Extra Bold" pitchFamily="34" charset="-122"/>
                  <a:cs typeface="Fraunces Extra Bold" pitchFamily="34" charset="-120"/>
                </a:rPr>
                <a:t>Grows into Life</a:t>
              </a:r>
              <a:endParaRPr lang="en-US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AE454872-DE75-AEB8-4B13-741923124245}"/>
                </a:ext>
              </a:extLst>
            </p:cNvPr>
            <p:cNvSpPr/>
            <p:nvPr/>
          </p:nvSpPr>
          <p:spPr>
            <a:xfrm>
              <a:off x="4598250" y="6054686"/>
              <a:ext cx="6979325" cy="532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300" dirty="0">
                  <a:solidFill>
                    <a:srgbClr val="085526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Watch as beautiful flowers or aromatic herbs sprout, a tangible memory of your eco-friendly choice.</a:t>
              </a:r>
              <a:endParaRPr lang="en-US" sz="1300" dirty="0">
                <a:solidFill>
                  <a:srgbClr val="085526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330F00EE-2207-0F1C-0B58-1566286EDB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5021432">
            <a:off x="-4614850" y="-3659155"/>
            <a:ext cx="5092125" cy="50921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96BA899-D72E-021B-15D3-8A8756DF07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488856">
            <a:off x="11549868" y="8378482"/>
            <a:ext cx="5092125" cy="5092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5D56E7-E0B6-B5FD-0525-A74F4AE89A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248500">
            <a:off x="13553172" y="-3556774"/>
            <a:ext cx="5092125" cy="5092125"/>
          </a:xfrm>
          <a:prstGeom prst="rect">
            <a:avLst/>
          </a:prstGeom>
        </p:spPr>
      </p:pic>
      <p:sp>
        <p:nvSpPr>
          <p:cNvPr id="24" name="Shape 6">
            <a:extLst>
              <a:ext uri="{FF2B5EF4-FFF2-40B4-BE49-F238E27FC236}">
                <a16:creationId xmlns:a16="http://schemas.microsoft.com/office/drawing/2014/main" id="{2693D1D8-2B14-01FC-7544-AE8B05266286}"/>
              </a:ext>
            </a:extLst>
          </p:cNvPr>
          <p:cNvSpPr/>
          <p:nvPr/>
        </p:nvSpPr>
        <p:spPr>
          <a:xfrm rot="16200000" flipV="1">
            <a:off x="7230700" y="2123733"/>
            <a:ext cx="45719" cy="50882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9FEED60-9049-B403-0370-F430CA079E53}"/>
              </a:ext>
            </a:extLst>
          </p:cNvPr>
          <p:cNvSpPr/>
          <p:nvPr/>
        </p:nvSpPr>
        <p:spPr>
          <a:xfrm>
            <a:off x="5029591" y="8737253"/>
            <a:ext cx="4571218" cy="46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🌱 </a:t>
            </a:r>
            <a:r>
              <a:rPr lang="en-US" sz="2800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From waste → living plant</a:t>
            </a:r>
            <a:endParaRPr lang="en-US" sz="1950" dirty="0">
              <a:solidFill>
                <a:srgbClr val="0D351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35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A95A514-AEA5-1100-931F-7FE6F9642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650886">
            <a:off x="11095166" y="-1288436"/>
            <a:ext cx="5092125" cy="5092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0EE074-33DD-18D7-5BD6-C63BD89996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3"/>
          <a:stretch>
            <a:fillRect/>
          </a:stretch>
        </p:blipFill>
        <p:spPr>
          <a:xfrm>
            <a:off x="3938" y="5981224"/>
            <a:ext cx="514222" cy="2248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6011" y="751523"/>
            <a:ext cx="7978378" cy="104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400" b="1" dirty="0">
                <a:solidFill>
                  <a:srgbClr val="0D351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Our Solution: SproutSquare — Paper That Turns Into a Plant</a:t>
            </a:r>
            <a:endParaRPr lang="en-US" sz="4400" dirty="0">
              <a:solidFill>
                <a:srgbClr val="0D351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99197" y="2316481"/>
            <a:ext cx="7978378" cy="79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spc="160" dirty="0">
                <a:solidFill>
                  <a:srgbClr val="085526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SproutSquare transforms ordinary paper into a living legacy. Our seed-embedded products are designed for seamless integration into daily life, offering an eco-conscious alternative that brings joy and new life.</a:t>
            </a:r>
            <a:endParaRPr lang="en-US" sz="1400" b="1" spc="160" dirty="0">
              <a:solidFill>
                <a:srgbClr val="085526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9197" y="3303151"/>
            <a:ext cx="832604" cy="1225868"/>
          </a:xfrm>
          <a:prstGeom prst="rect">
            <a:avLst/>
          </a:prstGeom>
          <a:effectLst>
            <a:innerShdw blurRad="266700">
              <a:prstClr val="black"/>
            </a:innerShdw>
          </a:effectLst>
        </p:spPr>
      </p:pic>
      <p:sp>
        <p:nvSpPr>
          <p:cNvPr id="6" name="Text 2"/>
          <p:cNvSpPr/>
          <p:nvPr/>
        </p:nvSpPr>
        <p:spPr>
          <a:xfrm>
            <a:off x="4598250" y="3469601"/>
            <a:ext cx="2081689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Used Like Normal</a:t>
            </a:r>
            <a:endParaRPr lang="en-US" dirty="0">
              <a:solidFill>
                <a:srgbClr val="0D351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598250" y="3829646"/>
            <a:ext cx="6979325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85526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products function just like traditional stationery, maintaining quality and aesthetic appeal.</a:t>
            </a:r>
            <a:endParaRPr lang="en-US" sz="1300" dirty="0">
              <a:solidFill>
                <a:srgbClr val="085526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  <a14:imgEffect>
                      <a14:brightnessContrast brigh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9197" y="4529019"/>
            <a:ext cx="832604" cy="999173"/>
          </a:xfrm>
          <a:prstGeom prst="rect">
            <a:avLst/>
          </a:prstGeom>
          <a:effectLst>
            <a:innerShdw blurRad="266700">
              <a:prstClr val="black"/>
            </a:innerShdw>
          </a:effectLst>
        </p:spPr>
      </p:pic>
      <p:sp>
        <p:nvSpPr>
          <p:cNvPr id="9" name="Text 4"/>
          <p:cNvSpPr/>
          <p:nvPr/>
        </p:nvSpPr>
        <p:spPr>
          <a:xfrm>
            <a:off x="4598250" y="4695468"/>
            <a:ext cx="2081689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Plantable</a:t>
            </a:r>
            <a:endParaRPr lang="en-US" dirty="0">
              <a:solidFill>
                <a:srgbClr val="0D351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598250" y="5055513"/>
            <a:ext cx="6979325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85526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After use, simply plant the paper in soil, turning what would be waste into growth.</a:t>
            </a:r>
            <a:endParaRPr lang="en-US" sz="1300" dirty="0">
              <a:solidFill>
                <a:srgbClr val="085526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400000"/>
                    </a14:imgEffect>
                    <a14:imgEffect>
                      <a14:brightnessContrast brigh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9197" y="5528191"/>
            <a:ext cx="832604" cy="1225868"/>
          </a:xfrm>
          <a:prstGeom prst="rect">
            <a:avLst/>
          </a:prstGeom>
          <a:effectLst>
            <a:innerShdw blurRad="266700">
              <a:prstClr val="black"/>
            </a:innerShdw>
          </a:effectLst>
        </p:spPr>
      </p:pic>
      <p:sp>
        <p:nvSpPr>
          <p:cNvPr id="12" name="Text 6"/>
          <p:cNvSpPr/>
          <p:nvPr/>
        </p:nvSpPr>
        <p:spPr>
          <a:xfrm>
            <a:off x="4598250" y="5694641"/>
            <a:ext cx="2081689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Grows into Life</a:t>
            </a:r>
            <a:endParaRPr lang="en-US" dirty="0">
              <a:solidFill>
                <a:srgbClr val="0D351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067AF7-29F3-EDF7-8D6B-0144EC3354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27725">
            <a:off x="-5174708" y="1953281"/>
            <a:ext cx="10229450" cy="14257280"/>
          </a:xfrm>
          <a:prstGeom prst="rect">
            <a:avLst/>
          </a:prstGeom>
          <a:effectLst>
            <a:outerShdw blurRad="88900" dist="101600" dir="3000000" sx="101000" sy="101000" algn="tl" rotWithShape="0">
              <a:prstClr val="black">
                <a:alpha val="42000"/>
              </a:prstClr>
            </a:outerShdw>
          </a:effectLst>
        </p:spPr>
      </p:pic>
      <p:sp>
        <p:nvSpPr>
          <p:cNvPr id="13" name="Text 7"/>
          <p:cNvSpPr/>
          <p:nvPr/>
        </p:nvSpPr>
        <p:spPr>
          <a:xfrm>
            <a:off x="4598250" y="6054686"/>
            <a:ext cx="6979325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85526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Watch as beautiful flowers or aromatic herbs sprout, a tangible memory of your eco-friendly choice.</a:t>
            </a:r>
            <a:endParaRPr lang="en-US" sz="1300" dirty="0">
              <a:solidFill>
                <a:srgbClr val="085526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A72642-4FA8-9506-4883-33459342A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207097">
            <a:off x="-2542125" y="-3009489"/>
            <a:ext cx="5092125" cy="50921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EABEB9-6AFE-3C91-F035-D0F788B164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333620">
            <a:off x="9547291" y="6244135"/>
            <a:ext cx="5092125" cy="50921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133835-A335-6088-36EF-2FE3ECBA49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650886">
            <a:off x="11095166" y="-1328703"/>
            <a:ext cx="5092125" cy="5092125"/>
          </a:xfrm>
          <a:prstGeom prst="rect">
            <a:avLst/>
          </a:prstGeom>
        </p:spPr>
      </p:pic>
      <p:sp>
        <p:nvSpPr>
          <p:cNvPr id="24" name="Shape 6">
            <a:extLst>
              <a:ext uri="{FF2B5EF4-FFF2-40B4-BE49-F238E27FC236}">
                <a16:creationId xmlns:a16="http://schemas.microsoft.com/office/drawing/2014/main" id="{5E2D1B81-F5BF-C659-49D5-B772E74F4396}"/>
              </a:ext>
            </a:extLst>
          </p:cNvPr>
          <p:cNvSpPr/>
          <p:nvPr/>
        </p:nvSpPr>
        <p:spPr>
          <a:xfrm rot="16200000">
            <a:off x="7282674" y="-1694616"/>
            <a:ext cx="65052" cy="7576806"/>
          </a:xfrm>
          <a:prstGeom prst="roundRect">
            <a:avLst>
              <a:gd name="adj" fmla="val 178077"/>
            </a:avLst>
          </a:prstGeom>
          <a:solidFill>
            <a:srgbClr val="623434"/>
          </a:solidFill>
          <a:ln>
            <a:noFill/>
          </a:ln>
          <a:effectLst>
            <a:innerShdw blurRad="114300">
              <a:prstClr val="black"/>
            </a:innerShdw>
          </a:effectLst>
        </p:spPr>
      </p:sp>
      <p:sp>
        <p:nvSpPr>
          <p:cNvPr id="14" name="Text 8"/>
          <p:cNvSpPr/>
          <p:nvPr/>
        </p:nvSpPr>
        <p:spPr>
          <a:xfrm>
            <a:off x="5029591" y="7072577"/>
            <a:ext cx="4571218" cy="46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🌱 </a:t>
            </a:r>
            <a:r>
              <a:rPr lang="en-US" sz="2800" b="1" dirty="0">
                <a:solidFill>
                  <a:srgbClr val="0D3512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ahnschrift SemiBold SemiConden" panose="020B0502040204020203" pitchFamily="34" charset="0"/>
                <a:ea typeface="Fraunces Extra Bold" pitchFamily="34" charset="-122"/>
                <a:cs typeface="Fraunces Extra Bold" pitchFamily="34" charset="-120"/>
              </a:rPr>
              <a:t>From waste → living plant</a:t>
            </a:r>
            <a:endParaRPr lang="en-US" sz="1950" dirty="0">
              <a:solidFill>
                <a:srgbClr val="0D351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612</Words>
  <Application>Microsoft Office PowerPoint</Application>
  <PresentationFormat>Custom</PresentationFormat>
  <Paragraphs>80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Segoe UI Semibold</vt:lpstr>
      <vt:lpstr>Bahnschrift Light Condensed</vt:lpstr>
      <vt:lpstr>Bahnschrift SemiBold SemiConden</vt:lpstr>
      <vt:lpstr>Nobile</vt:lpstr>
      <vt:lpstr>Aptos Display</vt:lpstr>
      <vt:lpstr>Gloucester MT Extra Condensed</vt:lpstr>
      <vt:lpstr>Fraunces Extra Bold</vt:lpstr>
      <vt:lpstr>Arial</vt:lpstr>
      <vt:lpstr>Bahnschrift SemiBold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Tanmay Waghchaure</cp:lastModifiedBy>
  <cp:revision>7</cp:revision>
  <dcterms:created xsi:type="dcterms:W3CDTF">2026-01-06T10:45:09Z</dcterms:created>
  <dcterms:modified xsi:type="dcterms:W3CDTF">2026-01-07T13:24:02Z</dcterms:modified>
</cp:coreProperties>
</file>